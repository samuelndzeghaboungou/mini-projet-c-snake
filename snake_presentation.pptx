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63040"/>
            <a:ext cx="12188952" cy="3200400"/>
          </a:xfrm>
          <a:prstGeom prst="rect">
            <a:avLst/>
          </a:prstGeom>
          <a:solidFill>
            <a:srgbClr val="0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58784" y="5925312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23376" y="5925312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87967" y="5925312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52560" y="5925312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17152" y="5925312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81744" y="5925312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81744" y="6089904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81744" y="6254496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17152" y="6254496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0" y="6254496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87967" y="6254496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23376" y="6254496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23376" y="6419088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23376" y="6583679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87967" y="6583679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6583679"/>
            <a:ext cx="139903" cy="139903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6583679"/>
            <a:ext cx="137160" cy="13716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554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9FF14"/>
                </a:solidFill>
                <a:latin typeface="Consolas"/>
              </a:rPr>
              <a:t>🐍  MINI-PROJET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39FF14"/>
                </a:solidFill>
                <a:latin typeface="Consolas"/>
              </a:rPr>
              <a:t>SNAKE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D700"/>
                </a:solidFill>
                <a:latin typeface="Consolas"/>
              </a:rPr>
              <a:t>Jeu desktop en C11  •  Bibliothèque Raylib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23620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9FF14"/>
                </a:solidFill>
                <a:latin typeface="Consolas"/>
              </a:rPr>
              <a:t>[ APPUYEZ SUR ENTRÉE POUR COMMENCER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D700"/>
                </a:solidFill>
                <a:latin typeface="Consolas"/>
              </a:rPr>
              <a:t>SCORE: 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🎯  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Que devait-on construire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  <a:latin typeface="Consolas"/>
              </a:rPr>
              <a:t>▸ Créer un jeu Snake desktop entièrement en langage C (norme C11)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  <a:latin typeface="Consolas"/>
              </a:rPr>
              <a:t>▸ Utiliser la bibliothèque graphique Raylib pour le rendu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  <a:latin typeface="Consolas"/>
              </a:rPr>
              <a:t>▸ Structurer le code proprement : main.c / game.c / game.h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  <a:latin typeface="Consolas"/>
              </a:rPr>
              <a:t>▸ Gérer la mémoire dynamique avec malloc + free (zéro fuite)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  <a:latin typeface="Consolas"/>
              </a:rPr>
              <a:t>▸ Fournir un README clair pour la compilation et l'exécution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  <a:latin typeface="Consolas"/>
              </a:rPr>
              <a:t>▸ Produire une application stable, demonstrable et maintenable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6B1A"/>
                </a:solidFill>
                <a:latin typeface="Consolas"/>
              </a:rPr>
              <a:t>▸ C11  ▸ Raylib  ▸ malloc/free  ▸ Desktop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🕹️  FONCTIONNALITÉS DU JEU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Ce que le joueur peut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9FF14"/>
                </a:solidFill>
                <a:latin typeface="Consolas"/>
              </a:rPr>
              <a:t>Gameplay de base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Déplacement au clavier (flèches)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Collision murs + corps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Collision avec les obstacles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Nourriture aléatoire sur la grille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39FF14"/>
                </a:solidFill>
                <a:latin typeface="Consolas"/>
              </a:rPr>
              <a:t>Progression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Vitesse qui augmente progressivement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Niveaux avec obstacles plus nombreux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1732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9FF14"/>
                </a:solidFill>
                <a:latin typeface="Consolas"/>
              </a:rPr>
              <a:t>Modes &amp; Options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3 difficultés : Easy / Normal / Hard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Mode challenge 60 secondes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Menu de démarrage complet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39FF14"/>
                </a:solidFill>
                <a:latin typeface="Consolas"/>
              </a:rPr>
              <a:t>Contrôles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Pause (P)  |  Restart (R)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Retour menu (TAB)  |  Quitter (ESC)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Score + meilleur score sauvegardé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45720" cy="493776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🏗️  ARCHITECTURE DU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Structure des fichiers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474720" cy="4846320"/>
          </a:xfrm>
          <a:prstGeom prst="rect">
            <a:avLst/>
          </a:prstGeom>
          <a:solidFill>
            <a:srgbClr val="0D2B0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9FF14"/>
                </a:solidFill>
                <a:latin typeface="Consolas"/>
              </a:rPr>
              <a:t>src/main.c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Fenêtre Raylib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Boucle principale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15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Affichage de l'UI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6265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Appel à game_init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et game_shutdown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474720" cy="48463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700"/>
                </a:solidFill>
                <a:latin typeface="Consolas"/>
              </a:rPr>
              <a:t>src/game.c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Logique du serpent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677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Collisions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15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Système de niveaux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6265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Mode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01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Rendu de la grille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474720" cy="48463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3333"/>
                </a:solidFill>
                <a:latin typeface="Consolas"/>
              </a:rPr>
              <a:t>include/game.h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Structures de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677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API publique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15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GameState, Snake,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6265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Food, Obstacle…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101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▸ Makefile : 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🛠️  TECHNOLOGIES UTILISÉES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Stack technique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474720" cy="1828800"/>
          </a:xfrm>
          <a:prstGeom prst="rect">
            <a:avLst/>
          </a:prstGeom>
          <a:solidFill>
            <a:srgbClr val="0D2B0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9FF14"/>
                </a:solidFill>
                <a:latin typeface="Consolas"/>
              </a:rPr>
              <a:t>C11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Langage principal – gestion mémoire manuelle,
performance et contrôle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474720" cy="1828800"/>
          </a:xfrm>
          <a:prstGeom prst="rect">
            <a:avLst/>
          </a:prstGeom>
          <a:solidFill>
            <a:srgbClr val="0D2B0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  <a:latin typeface="Consolas"/>
              </a:rPr>
              <a:t>Raylib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Bibliothèque graphique légère et portable
(Windows / Linux / macOS)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3474720" cy="1828800"/>
          </a:xfrm>
          <a:prstGeom prst="rect">
            <a:avLst/>
          </a:prstGeom>
          <a:solidFill>
            <a:srgbClr val="0D2B0D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EC8E3"/>
                </a:solidFill>
                <a:latin typeface="Consolas"/>
              </a:rPr>
              <a:t>GCC / MinGW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Compilateur avec warnings stricts
(-Wall -Wextra -Wpedantic)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749039"/>
            <a:ext cx="3474720" cy="1828800"/>
          </a:xfrm>
          <a:prstGeom prst="rect">
            <a:avLst/>
          </a:prstGeom>
          <a:solidFill>
            <a:srgbClr val="0D2B0D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84047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3333"/>
                </a:solidFill>
                <a:latin typeface="Consolas"/>
              </a:rPr>
              <a:t>Makefile / PowerShell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2976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Scripts de build multi-plateformes
(build.ps1, run.ps1, Makefile)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3474720" cy="1828800"/>
          </a:xfrm>
          <a:prstGeom prst="rect">
            <a:avLst/>
          </a:prstGeom>
          <a:solidFill>
            <a:srgbClr val="0D2B0D"/>
          </a:solidFill>
          <a:ln w="2540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4047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CCCFF"/>
                </a:solidFill>
                <a:latin typeface="Consolas"/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976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Dépôt collaboratif – commits clairs
et historique de développement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⚙️  COMPILATION &amp;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Comment lancer le projet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3474720"/>
          </a:xfrm>
          <a:prstGeom prst="rect">
            <a:avLst/>
          </a:prstGeom>
          <a:solidFill>
            <a:srgbClr val="051405"/>
          </a:solidFill>
          <a:ln w="12700">
            <a:solidFill>
              <a:srgbClr val="1A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onsolas"/>
              </a:rPr>
              <a:t># Option 1 – PowerShell (Windows, recommandé)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FF14"/>
                </a:solidFill>
                <a:latin typeface="Consolas"/>
              </a:rPr>
              <a:t>powershell -ExecutionPolicy Bypass -File .\build.ps1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FF14"/>
                </a:solidFill>
                <a:latin typeface="Consolas"/>
              </a:rPr>
              <a:t>powershell -ExecutionPolicy Bypass -File .\build.ps1 -Run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24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onsolas"/>
              </a:rPr>
              <a:t># Option 2 – Makefile (Linux / macOS)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FF14"/>
                </a:solidFill>
                <a:latin typeface="Consolas"/>
              </a:rPr>
              <a:t>make        # compiler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FF14"/>
                </a:solidFill>
                <a:latin typeface="Consolas"/>
              </a:rPr>
              <a:t>make run    # compiler + lancer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027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FF14"/>
                </a:solidFill>
                <a:latin typeface="Consolas"/>
              </a:rPr>
              <a:t>make asan   # build avec AddressSanitizer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953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onsolas"/>
              </a:rPr>
              <a:t># Option 3 – Commande directe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FF14"/>
                </a:solidFill>
                <a:latin typeface="Consolas"/>
              </a:rPr>
              <a:t>gcc -std=c11 -Wall -Iinclude src/main.c src/game.c -o snake.exe -lraylib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9FF14"/>
                </a:solidFill>
                <a:latin typeface="Consolas"/>
              </a:rPr>
              <a:t>Prérequis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GCC ou Clang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Raylib installée (MSYS2 sous Windows)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onsolas"/>
              </a:rPr>
              <a:t>▸ Windows / Linux / macOS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⌨️  COMMANDES DE JEU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Touches clavier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22860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FF14"/>
                </a:solidFill>
                <a:latin typeface="Consolas"/>
              </a:rPr>
              <a:t>←  ↑  → 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6B1A"/>
                </a:solidFill>
                <a:latin typeface="Consola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Consolas"/>
              </a:rPr>
              <a:t>Déplacer le serpent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94560"/>
            <a:ext cx="22860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FF14"/>
                </a:solidFill>
                <a:latin typeface="Consolas"/>
              </a:rPr>
              <a:t>ENTRÉE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402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6B1A"/>
                </a:solidFill>
                <a:latin typeface="Consola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4027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Consolas"/>
              </a:rPr>
              <a:t>Lancer la partie (depuis le menu)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834639"/>
            <a:ext cx="22860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Consolas"/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803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6B1A"/>
                </a:solidFill>
                <a:latin typeface="Consola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5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Consolas"/>
              </a:rPr>
              <a:t>Pause / Reprendre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474720"/>
            <a:ext cx="22860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Consola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5204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6B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52043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Consolas"/>
              </a:rPr>
              <a:t>Restart (recommencer)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114800"/>
            <a:ext cx="22860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EC8E3"/>
                </a:solidFill>
                <a:latin typeface="Consolas"/>
              </a:rPr>
              <a:t>TAB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160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6B1A"/>
                </a:solidFill>
                <a:latin typeface="Consola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160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Consolas"/>
              </a:rPr>
              <a:t>Retour au menu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754880"/>
            <a:ext cx="22860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EC8E3"/>
                </a:solidFill>
                <a:latin typeface="Consolas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00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6B1A"/>
                </a:solidFill>
                <a:latin typeface="Consola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00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Consolas"/>
              </a:rPr>
              <a:t>Activer / désactiver le mode challenge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394959"/>
            <a:ext cx="22860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9495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3333"/>
                </a:solidFill>
                <a:latin typeface="Consolas"/>
              </a:rPr>
              <a:t>ESC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4406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6B1A"/>
                </a:solidFill>
                <a:latin typeface="Consola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44067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Consolas"/>
              </a:rPr>
              <a:t>Quitter le jeu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🧠  MÉMOIRE &amp; STABILITÉ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Points techniques importants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9FF14"/>
                </a:solidFill>
                <a:latin typeface="Consolas"/>
              </a:rPr>
              <a:t>Gestion mémoire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Allocation dynamique du corps du serpent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via malloc() au démarrage du jeu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Libération complète via game_shutdown()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Zéro fuite mémoire volontaire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Vérifiable avec AddressSanitizer (ASAN)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39FF14"/>
                </a:solidFill>
                <a:latin typeface="Consolas"/>
              </a:rPr>
              <a:t>Sécurité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Aucun accès hors-limites intentionnel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États de jeu validés à chaque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173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9FF14"/>
                </a:solidFill>
                <a:latin typeface="Consolas"/>
              </a:rPr>
              <a:t>Tick fixe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Logique de jeu basée sur un tick fixe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Comportement stable indépendamment du FPS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Pas de glitches liés à la fréquence d'images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39FF14"/>
                </a:solidFill>
                <a:latin typeface="Consolas"/>
              </a:rPr>
              <a:t>Build robuste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-Wall -Wextra -Wpedantic activés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DLL runtime copiées automatiquement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Fonctionne sur Windows / Linux / macOS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onsolas"/>
              </a:rPr>
              <a:t>▸ Tests avec AddressSanitizer intégrés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45720" cy="493776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FF14"/>
                </a:solidFill>
                <a:latin typeface="Consolas"/>
              </a:rPr>
              <a:t>🎤  PLAN DE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Consolas"/>
              </a:rPr>
              <a:t>Déroulement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" cy="6400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A0A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FF14"/>
                </a:solidFill>
                <a:latin typeface="Consolas"/>
              </a:rPr>
              <a:t>Pitch 30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onsolas"/>
              </a:rPr>
              <a:t>Objectif + technologies (C11 + Raylib)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95728"/>
            <a:ext cx="54864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A0A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957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onsolas"/>
              </a:rPr>
              <a:t>Demo vidéo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871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onsolas"/>
              </a:rPr>
              <a:t>Gameplay, collisions, restart, mode challenge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82696"/>
            <a:ext cx="548640" cy="64008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8269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A0A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826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E3"/>
                </a:solidFill>
                <a:latin typeface="Consolas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7413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onsolas"/>
              </a:rPr>
              <a:t>Expliquer main.c, game.c, game.h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9664"/>
            <a:ext cx="548640" cy="6400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69664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A0A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966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0"/>
                </a:solidFill>
                <a:latin typeface="Consolas"/>
              </a:rPr>
              <a:t>Mémoire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6110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onsolas"/>
              </a:rPr>
              <a:t>game_init, snake_step, game_shutdown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56631"/>
            <a:ext cx="548640" cy="64008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56631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A0A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56631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3333"/>
                </a:solidFill>
                <a:latin typeface="Consolas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48071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onsolas"/>
              </a:rPr>
              <a:t>Architecture, crashes, améliorations possibles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  <a:latin typeface="Consolas"/>
              </a:rPr>
              <a:t>📁 Checklist : jeu lancé ✓  best score ✓  README à jour ✓  commits clairs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234440"/>
            <a:ext cx="228600" cy="56235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291840"/>
          </a:xfrm>
          <a:prstGeom prst="rect">
            <a:avLst/>
          </a:prstGeom>
          <a:solidFill>
            <a:srgbClr val="00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9FF14"/>
                </a:solidFill>
                <a:latin typeface="Consolas"/>
              </a:rPr>
              <a:t>🐍  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D700"/>
                </a:solidFill>
                <a:latin typeface="Consolas"/>
              </a:rPr>
              <a:t>Un Snake robuste et bien expliqué vaut beaucoup plus
qu'un projet trop grand et instable.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389120"/>
            <a:ext cx="18288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9FF14"/>
                </a:solidFill>
                <a:latin typeface="Consolas"/>
              </a:rPr>
              <a:t>C11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389120"/>
            <a:ext cx="18288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4389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  <a:latin typeface="Consolas"/>
              </a:rPr>
              <a:t>Raylib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4389120"/>
            <a:ext cx="18288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4389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EC8E3"/>
                </a:solidFill>
                <a:latin typeface="Consolas"/>
              </a:rPr>
              <a:t>malloc /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4389120"/>
            <a:ext cx="18288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389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  <a:latin typeface="Consolas"/>
              </a:rPr>
              <a:t>Tick fixe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4389120"/>
            <a:ext cx="1828800" cy="502920"/>
          </a:xfrm>
          <a:prstGeom prst="rect">
            <a:avLst/>
          </a:prstGeom>
          <a:solidFill>
            <a:srgbClr val="0D2B0D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4389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3333"/>
                </a:solidFill>
                <a:latin typeface="Consolas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3620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FF14"/>
                </a:solidFill>
                <a:latin typeface="Consolas"/>
              </a:rPr>
              <a:t>[ DES QUESTIONS ?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D700"/>
                </a:solidFill>
                <a:latin typeface="Consolas"/>
              </a:rPr>
              <a:t>BEST: 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